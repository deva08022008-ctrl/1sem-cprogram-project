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png" ContentType="image/png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96545">
              <a:lnSpc>
                <a:spcPts val="4090"/>
              </a:lnSpc>
            </a:pPr>
            <a:r>
              <a:rPr dirty="0"/>
              <a:t>C</a:t>
            </a:r>
            <a:r>
              <a:rPr dirty="0" spc="165"/>
              <a:t> </a:t>
            </a:r>
            <a:r>
              <a:rPr dirty="0"/>
              <a:t>Programming</a:t>
            </a:r>
            <a:r>
              <a:rPr dirty="0" spc="365"/>
              <a:t> </a:t>
            </a:r>
            <a:r>
              <a:rPr dirty="0" spc="-10"/>
              <a:t>Language</a:t>
            </a:r>
          </a:p>
          <a:p>
            <a:pPr algn="ctr" marL="296545">
              <a:lnSpc>
                <a:spcPct val="100000"/>
              </a:lnSpc>
              <a:spcBef>
                <a:spcPts val="5"/>
              </a:spcBef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96545">
              <a:lnSpc>
                <a:spcPts val="4090"/>
              </a:lnSpc>
            </a:pPr>
            <a:r>
              <a:rPr dirty="0"/>
              <a:t>C</a:t>
            </a:r>
            <a:r>
              <a:rPr dirty="0" spc="165"/>
              <a:t> </a:t>
            </a:r>
            <a:r>
              <a:rPr dirty="0"/>
              <a:t>Programming</a:t>
            </a:r>
            <a:r>
              <a:rPr dirty="0" spc="365"/>
              <a:t> </a:t>
            </a:r>
            <a:r>
              <a:rPr dirty="0" spc="-10"/>
              <a:t>Language</a:t>
            </a:r>
          </a:p>
          <a:p>
            <a:pPr algn="ctr" marL="296545">
              <a:lnSpc>
                <a:spcPct val="100000"/>
              </a:lnSpc>
              <a:spcBef>
                <a:spcPts val="5"/>
              </a:spcBef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96545">
              <a:lnSpc>
                <a:spcPts val="4090"/>
              </a:lnSpc>
            </a:pPr>
            <a:r>
              <a:rPr dirty="0"/>
              <a:t>C</a:t>
            </a:r>
            <a:r>
              <a:rPr dirty="0" spc="165"/>
              <a:t> </a:t>
            </a:r>
            <a:r>
              <a:rPr dirty="0"/>
              <a:t>Programming</a:t>
            </a:r>
            <a:r>
              <a:rPr dirty="0" spc="365"/>
              <a:t> </a:t>
            </a:r>
            <a:r>
              <a:rPr dirty="0" spc="-10"/>
              <a:t>Language</a:t>
            </a:r>
          </a:p>
          <a:p>
            <a:pPr algn="ctr" marL="296545">
              <a:lnSpc>
                <a:spcPct val="100000"/>
              </a:lnSpc>
              <a:spcBef>
                <a:spcPts val="5"/>
              </a:spcBef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96545">
              <a:lnSpc>
                <a:spcPts val="4090"/>
              </a:lnSpc>
            </a:pPr>
            <a:r>
              <a:rPr dirty="0"/>
              <a:t>C</a:t>
            </a:r>
            <a:r>
              <a:rPr dirty="0" spc="165"/>
              <a:t> </a:t>
            </a:r>
            <a:r>
              <a:rPr dirty="0"/>
              <a:t>Programming</a:t>
            </a:r>
            <a:r>
              <a:rPr dirty="0" spc="365"/>
              <a:t> </a:t>
            </a:r>
            <a:r>
              <a:rPr dirty="0" spc="-10"/>
              <a:t>Language</a:t>
            </a:r>
          </a:p>
          <a:p>
            <a:pPr algn="ctr" marL="296545">
              <a:lnSpc>
                <a:spcPct val="100000"/>
              </a:lnSpc>
              <a:spcBef>
                <a:spcPts val="5"/>
              </a:spcBef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96545">
              <a:lnSpc>
                <a:spcPts val="4090"/>
              </a:lnSpc>
            </a:pPr>
            <a:r>
              <a:rPr dirty="0"/>
              <a:t>C</a:t>
            </a:r>
            <a:r>
              <a:rPr dirty="0" spc="165"/>
              <a:t> </a:t>
            </a:r>
            <a:r>
              <a:rPr dirty="0"/>
              <a:t>Programming</a:t>
            </a:r>
            <a:r>
              <a:rPr dirty="0" spc="365"/>
              <a:t> </a:t>
            </a:r>
            <a:r>
              <a:rPr dirty="0" spc="-10"/>
              <a:t>Language</a:t>
            </a:r>
          </a:p>
          <a:p>
            <a:pPr algn="ctr" marL="296545">
              <a:lnSpc>
                <a:spcPct val="100000"/>
              </a:lnSpc>
              <a:spcBef>
                <a:spcPts val="5"/>
              </a:spcBef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34453" y="8127745"/>
            <a:ext cx="6431711" cy="1748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 marL="296545">
              <a:lnSpc>
                <a:spcPts val="4090"/>
              </a:lnSpc>
            </a:pPr>
            <a:r>
              <a:rPr dirty="0"/>
              <a:t>C</a:t>
            </a:r>
            <a:r>
              <a:rPr dirty="0" spc="165"/>
              <a:t> </a:t>
            </a:r>
            <a:r>
              <a:rPr dirty="0"/>
              <a:t>Programming</a:t>
            </a:r>
            <a:r>
              <a:rPr dirty="0" spc="365"/>
              <a:t> </a:t>
            </a:r>
            <a:r>
              <a:rPr dirty="0" spc="-10"/>
              <a:t>Language</a:t>
            </a:r>
          </a:p>
          <a:p>
            <a:pPr algn="ctr" marL="296545">
              <a:lnSpc>
                <a:spcPct val="100000"/>
              </a:lnSpc>
              <a:spcBef>
                <a:spcPts val="5"/>
              </a:spcBef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366759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8988552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49590" y="8301481"/>
            <a:ext cx="5662295" cy="1172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4079"/>
              </a:lnSpc>
            </a:pPr>
            <a:r>
              <a:rPr dirty="0" sz="420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42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dirty="0" sz="4200" spc="4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200" spc="-1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4200">
              <a:latin typeface="Calibri"/>
              <a:cs typeface="Calibri"/>
            </a:endParaRPr>
          </a:p>
          <a:p>
            <a:pPr algn="ctr">
              <a:lnSpc>
                <a:spcPts val="4850"/>
              </a:lnSpc>
            </a:pPr>
            <a:r>
              <a:rPr dirty="0" sz="4050" spc="60">
                <a:solidFill>
                  <a:srgbClr val="F2F2F2"/>
                </a:solidFill>
                <a:latin typeface="Calibri"/>
                <a:cs typeface="Calibri"/>
              </a:rPr>
              <a:t>Project</a:t>
            </a:r>
            <a:r>
              <a:rPr dirty="0" sz="4050" spc="135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dirty="0" sz="4050" spc="90">
                <a:solidFill>
                  <a:srgbClr val="F2F2F2"/>
                </a:solidFill>
                <a:latin typeface="Calibri"/>
                <a:cs typeface="Calibri"/>
              </a:rPr>
              <a:t>Presentation</a:t>
            </a:r>
            <a:endParaRPr sz="4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525256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9147047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32232" rIns="0" bIns="0" rtlCol="0" vert="horz">
            <a:spAutoFit/>
          </a:bodyPr>
          <a:lstStyle/>
          <a:p>
            <a:pPr algn="ctr" marL="296545">
              <a:lnSpc>
                <a:spcPts val="4090"/>
              </a:lnSpc>
            </a:pPr>
            <a:r>
              <a:rPr dirty="0"/>
              <a:t>C</a:t>
            </a:r>
            <a:r>
              <a:rPr dirty="0" spc="165"/>
              <a:t> </a:t>
            </a:r>
            <a:r>
              <a:rPr dirty="0"/>
              <a:t>Programming</a:t>
            </a:r>
            <a:r>
              <a:rPr dirty="0" spc="365"/>
              <a:t> </a:t>
            </a:r>
            <a:r>
              <a:rPr dirty="0" spc="-10"/>
              <a:t>Language</a:t>
            </a:r>
          </a:p>
          <a:p>
            <a:pPr algn="ctr" marL="296545">
              <a:lnSpc>
                <a:spcPct val="100000"/>
              </a:lnSpc>
              <a:spcBef>
                <a:spcPts val="5"/>
              </a:spcBef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196071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8811768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86166" y="8127745"/>
            <a:ext cx="5662295" cy="1172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4079"/>
              </a:lnSpc>
            </a:pPr>
            <a:r>
              <a:rPr dirty="0" sz="420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42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dirty="0" sz="420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200" spc="-1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4200">
              <a:latin typeface="Calibri"/>
              <a:cs typeface="Calibri"/>
            </a:endParaRPr>
          </a:p>
          <a:p>
            <a:pPr algn="ctr" marR="1905">
              <a:lnSpc>
                <a:spcPts val="4850"/>
              </a:lnSpc>
            </a:pPr>
            <a:r>
              <a:rPr dirty="0" sz="4050" spc="60">
                <a:solidFill>
                  <a:srgbClr val="F2F2F2"/>
                </a:solidFill>
                <a:latin typeface="Calibri"/>
                <a:cs typeface="Calibri"/>
              </a:rPr>
              <a:t>Project</a:t>
            </a:r>
            <a:r>
              <a:rPr dirty="0" sz="4050" spc="16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dirty="0" sz="4050" spc="90">
                <a:solidFill>
                  <a:srgbClr val="F2F2F2"/>
                </a:solidFill>
                <a:latin typeface="Calibri"/>
                <a:cs typeface="Calibri"/>
              </a:rPr>
              <a:t>Presentation</a:t>
            </a:r>
            <a:endParaRPr sz="4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421623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9037319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5552" rIns="0" bIns="0" rtlCol="0" vert="horz">
            <a:spAutoFit/>
          </a:bodyPr>
          <a:lstStyle/>
          <a:p>
            <a:pPr algn="ctr">
              <a:lnSpc>
                <a:spcPts val="4079"/>
              </a:lnSpc>
            </a:pPr>
            <a:r>
              <a:rPr dirty="0"/>
              <a:t>C</a:t>
            </a:r>
            <a:r>
              <a:rPr dirty="0" spc="55"/>
              <a:t> </a:t>
            </a:r>
            <a:r>
              <a:rPr dirty="0"/>
              <a:t>Programming</a:t>
            </a:r>
            <a:r>
              <a:rPr dirty="0" spc="445"/>
              <a:t> </a:t>
            </a:r>
            <a:r>
              <a:rPr dirty="0" spc="-10"/>
              <a:t>Language</a:t>
            </a:r>
          </a:p>
          <a:p>
            <a:pPr algn="ctr" marR="1905">
              <a:lnSpc>
                <a:spcPts val="4850"/>
              </a:lnSpc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549640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9171431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6616" rIns="0" bIns="0" rtlCol="0" vert="horz">
            <a:spAutoFit/>
          </a:bodyPr>
          <a:lstStyle/>
          <a:p>
            <a:pPr algn="ctr" marL="765810">
              <a:lnSpc>
                <a:spcPts val="4079"/>
              </a:lnSpc>
            </a:pPr>
            <a:r>
              <a:rPr dirty="0"/>
              <a:t>C</a:t>
            </a:r>
            <a:r>
              <a:rPr dirty="0" spc="55"/>
              <a:t> </a:t>
            </a:r>
            <a:r>
              <a:rPr dirty="0"/>
              <a:t>Programming</a:t>
            </a:r>
            <a:r>
              <a:rPr dirty="0" spc="470"/>
              <a:t> </a:t>
            </a:r>
            <a:r>
              <a:rPr dirty="0" spc="-10"/>
              <a:t>Language</a:t>
            </a:r>
          </a:p>
          <a:p>
            <a:pPr algn="ctr" marL="765810">
              <a:lnSpc>
                <a:spcPts val="4850"/>
              </a:lnSpc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567928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9189719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43494" y="8499602"/>
            <a:ext cx="5665470" cy="1176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4090"/>
              </a:lnSpc>
            </a:pPr>
            <a:r>
              <a:rPr dirty="0" sz="420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42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dirty="0" sz="4200" spc="4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200" spc="-1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4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4050" spc="60">
                <a:solidFill>
                  <a:srgbClr val="F2F2F2"/>
                </a:solidFill>
                <a:latin typeface="Calibri"/>
                <a:cs typeface="Calibri"/>
              </a:rPr>
              <a:t>Project</a:t>
            </a:r>
            <a:r>
              <a:rPr dirty="0" sz="4050" spc="16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dirty="0" sz="4050" spc="90">
                <a:solidFill>
                  <a:srgbClr val="F2F2F2"/>
                </a:solidFill>
                <a:latin typeface="Calibri"/>
                <a:cs typeface="Calibri"/>
              </a:rPr>
              <a:t>Presentation</a:t>
            </a:r>
            <a:endParaRPr sz="4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525256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9147047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32232" rIns="0" bIns="0" rtlCol="0" vert="horz">
            <a:spAutoFit/>
          </a:bodyPr>
          <a:lstStyle/>
          <a:p>
            <a:pPr algn="ctr" marL="384810">
              <a:lnSpc>
                <a:spcPts val="4090"/>
              </a:lnSpc>
            </a:pPr>
            <a:r>
              <a:rPr dirty="0"/>
              <a:t>C</a:t>
            </a:r>
            <a:r>
              <a:rPr dirty="0" spc="55"/>
              <a:t> </a:t>
            </a:r>
            <a:r>
              <a:rPr dirty="0"/>
              <a:t>Programming</a:t>
            </a:r>
            <a:r>
              <a:rPr dirty="0" spc="445"/>
              <a:t> </a:t>
            </a:r>
            <a:r>
              <a:rPr dirty="0" spc="-10"/>
              <a:t>Language</a:t>
            </a:r>
          </a:p>
          <a:p>
            <a:pPr algn="ctr" marL="384810" marR="1905">
              <a:lnSpc>
                <a:spcPct val="100000"/>
              </a:lnSpc>
              <a:spcBef>
                <a:spcPts val="5"/>
              </a:spcBef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354568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8970264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58496" rIns="0" bIns="0" rtlCol="0" vert="horz">
            <a:spAutoFit/>
          </a:bodyPr>
          <a:lstStyle/>
          <a:p>
            <a:pPr algn="ctr" marL="591820">
              <a:lnSpc>
                <a:spcPts val="4079"/>
              </a:lnSpc>
            </a:pPr>
            <a:r>
              <a:rPr dirty="0"/>
              <a:t>C</a:t>
            </a:r>
            <a:r>
              <a:rPr dirty="0" spc="140"/>
              <a:t> </a:t>
            </a:r>
            <a:r>
              <a:rPr dirty="0"/>
              <a:t>Programming</a:t>
            </a:r>
            <a:r>
              <a:rPr dirty="0" spc="365"/>
              <a:t> </a:t>
            </a:r>
            <a:r>
              <a:rPr dirty="0" spc="-10"/>
              <a:t>Language</a:t>
            </a:r>
          </a:p>
          <a:p>
            <a:pPr algn="ctr" marL="591820" marR="1905">
              <a:lnSpc>
                <a:spcPts val="4850"/>
              </a:lnSpc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634983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9256776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1960" rIns="0" bIns="0" rtlCol="0" vert="horz">
            <a:spAutoFit/>
          </a:bodyPr>
          <a:lstStyle/>
          <a:p>
            <a:pPr algn="ctr">
              <a:lnSpc>
                <a:spcPts val="4090"/>
              </a:lnSpc>
            </a:pPr>
            <a:r>
              <a:rPr dirty="0"/>
              <a:t>C</a:t>
            </a:r>
            <a:r>
              <a:rPr dirty="0" spc="55"/>
              <a:t> </a:t>
            </a:r>
            <a:r>
              <a:rPr dirty="0"/>
              <a:t>Programming</a:t>
            </a:r>
            <a:r>
              <a:rPr dirty="0" spc="445"/>
              <a:t> </a:t>
            </a:r>
            <a:r>
              <a:rPr dirty="0" spc="-10"/>
              <a:t>Language</a:t>
            </a:r>
          </a:p>
          <a:p>
            <a:pPr algn="ctr" marR="1905">
              <a:lnSpc>
                <a:spcPct val="100000"/>
              </a:lnSpc>
              <a:spcBef>
                <a:spcPts val="5"/>
              </a:spcBef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60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506968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9122664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0896" rIns="0" bIns="0" rtlCol="0" vert="horz">
            <a:spAutoFit/>
          </a:bodyPr>
          <a:lstStyle/>
          <a:p>
            <a:pPr algn="ctr" marL="19050">
              <a:lnSpc>
                <a:spcPts val="4079"/>
              </a:lnSpc>
            </a:pPr>
            <a:r>
              <a:rPr dirty="0"/>
              <a:t>C</a:t>
            </a:r>
            <a:r>
              <a:rPr dirty="0" spc="55"/>
              <a:t> </a:t>
            </a:r>
            <a:r>
              <a:rPr dirty="0"/>
              <a:t>Programming</a:t>
            </a:r>
            <a:r>
              <a:rPr dirty="0" spc="445"/>
              <a:t> </a:t>
            </a:r>
            <a:r>
              <a:rPr dirty="0" spc="-10"/>
              <a:t>Language</a:t>
            </a:r>
          </a:p>
          <a:p>
            <a:pPr algn="ctr" marL="19050">
              <a:lnSpc>
                <a:spcPts val="4850"/>
              </a:lnSpc>
            </a:pPr>
            <a:r>
              <a:rPr dirty="0" sz="4050" spc="60">
                <a:solidFill>
                  <a:srgbClr val="F2F2F2"/>
                </a:solidFill>
              </a:rPr>
              <a:t>Project</a:t>
            </a:r>
            <a:r>
              <a:rPr dirty="0" sz="4050" spc="135">
                <a:solidFill>
                  <a:srgbClr val="F2F2F2"/>
                </a:solidFill>
              </a:rPr>
              <a:t> </a:t>
            </a:r>
            <a:r>
              <a:rPr dirty="0" sz="4050" spc="90">
                <a:solidFill>
                  <a:srgbClr val="F2F2F2"/>
                </a:solidFill>
              </a:rPr>
              <a:t>Presentation</a:t>
            </a:r>
            <a:endParaRPr sz="4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095" y="173736"/>
            <a:ext cx="18282285" cy="165100"/>
            <a:chOff x="6095" y="173736"/>
            <a:chExt cx="18282285" cy="1651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62704" y="173736"/>
              <a:ext cx="1225296" cy="16459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095" y="173736"/>
              <a:ext cx="18279110" cy="161925"/>
            </a:xfrm>
            <a:custGeom>
              <a:avLst/>
              <a:gdLst/>
              <a:ahLst/>
              <a:cxnLst/>
              <a:rect l="l" t="t" r="r" b="b"/>
              <a:pathLst>
                <a:path w="18279110" h="161925">
                  <a:moveTo>
                    <a:pt x="18278856" y="161544"/>
                  </a:moveTo>
                  <a:lnTo>
                    <a:pt x="0" y="161544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161544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6095" y="423672"/>
            <a:ext cx="18282285" cy="238125"/>
            <a:chOff x="6095" y="423672"/>
            <a:chExt cx="18282285" cy="23812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62704" y="423672"/>
              <a:ext cx="1225296" cy="23774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095" y="423672"/>
              <a:ext cx="18279110" cy="234950"/>
            </a:xfrm>
            <a:custGeom>
              <a:avLst/>
              <a:gdLst/>
              <a:ahLst/>
              <a:cxnLst/>
              <a:rect l="l" t="t" r="r" b="b"/>
              <a:pathLst>
                <a:path w="18279110" h="234950">
                  <a:moveTo>
                    <a:pt x="18278856" y="234696"/>
                  </a:moveTo>
                  <a:lnTo>
                    <a:pt x="0" y="234696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34696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7143702" y="357631"/>
            <a:ext cx="1443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#incIude</a:t>
            </a:r>
            <a:r>
              <a:rPr dirty="0" sz="15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«stdio.h»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095" y="765048"/>
            <a:ext cx="18282285" cy="226060"/>
            <a:chOff x="6095" y="765048"/>
            <a:chExt cx="18282285" cy="226060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62704" y="765048"/>
              <a:ext cx="1225296" cy="225551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095" y="765048"/>
              <a:ext cx="18279110" cy="222885"/>
            </a:xfrm>
            <a:custGeom>
              <a:avLst/>
              <a:gdLst/>
              <a:ahLst/>
              <a:cxnLst/>
              <a:rect l="l" t="t" r="r" b="b"/>
              <a:pathLst>
                <a:path w="18279110" h="222884">
                  <a:moveTo>
                    <a:pt x="18278856" y="222504"/>
                  </a:moveTo>
                  <a:lnTo>
                    <a:pt x="0" y="222504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22504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2973113" y="11937"/>
            <a:ext cx="2477135" cy="99060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75895" marR="5080" indent="-163830">
              <a:lnSpc>
                <a:spcPct val="147000"/>
              </a:lnSpc>
              <a:spcBef>
                <a:spcPts val="85"/>
              </a:spcBef>
              <a:tabLst>
                <a:tab pos="937894" algn="l"/>
                <a:tab pos="1539240" algn="l"/>
              </a:tabLst>
            </a:pPr>
            <a:r>
              <a:rPr dirty="0" sz="1450" spc="-2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45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Arial MT"/>
                <a:cs typeface="Arial MT"/>
              </a:rPr>
              <a:t>(i</a:t>
            </a:r>
            <a:r>
              <a:rPr dirty="0" sz="145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5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dirty="0" sz="145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FFFF"/>
                </a:solidFill>
                <a:latin typeface="Arial MT"/>
                <a:cs typeface="Arial MT"/>
              </a:rPr>
              <a:t>0;</a:t>
            </a:r>
            <a:r>
              <a:rPr dirty="0" sz="145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sz="14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450" spc="-60">
                <a:solidFill>
                  <a:srgbClr val="FFFFFF"/>
                </a:solidFill>
                <a:latin typeface="Arial MT"/>
                <a:cs typeface="Arial MT"/>
              </a:rPr>
              <a:t>n;</a:t>
            </a:r>
            <a:r>
              <a:rPr dirty="0" sz="145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Arial MT"/>
                <a:cs typeface="Arial MT"/>
              </a:rPr>
              <a:t>++i) </a:t>
            </a:r>
            <a:r>
              <a:rPr dirty="0" sz="1450" spc="-10">
                <a:solidFill>
                  <a:srgbClr val="FFFFFF"/>
                </a:solidFill>
                <a:latin typeface="Calibri"/>
                <a:cs typeface="Calibri"/>
              </a:rPr>
              <a:t>students[i].total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50" spc="-25">
                <a:solidFill>
                  <a:srgbClr val="FFFFFF"/>
                </a:solidFill>
                <a:latin typeface="Calibri"/>
                <a:cs typeface="Calibri"/>
              </a:rPr>
              <a:t>0;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printf("\nStudent</a:t>
            </a:r>
            <a:r>
              <a:rPr dirty="0" sz="14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%d</a:t>
            </a:r>
            <a:r>
              <a:rPr dirty="0" sz="14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ID:</a:t>
            </a:r>
            <a:r>
              <a:rPr dirty="0" sz="1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",</a:t>
            </a:r>
            <a:r>
              <a:rPr dirty="0" sz="1400" spc="-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70">
                <a:solidFill>
                  <a:srgbClr val="FFFFFF"/>
                </a:solidFill>
                <a:latin typeface="Arial MT"/>
                <a:cs typeface="Arial MT"/>
              </a:rPr>
              <a:t>i+1);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095" y="1106424"/>
            <a:ext cx="18279110" cy="198120"/>
          </a:xfrm>
          <a:custGeom>
            <a:avLst/>
            <a:gdLst/>
            <a:ahLst/>
            <a:cxnLst/>
            <a:rect l="l" t="t" r="r" b="b"/>
            <a:pathLst>
              <a:path w="18279110" h="198119">
                <a:moveTo>
                  <a:pt x="18278856" y="198120"/>
                </a:moveTo>
                <a:lnTo>
                  <a:pt x="0" y="198120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198120"/>
                </a:lnTo>
                <a:close/>
              </a:path>
            </a:pathLst>
          </a:custGeom>
          <a:solidFill>
            <a:srgbClr val="79A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145100" y="574365"/>
            <a:ext cx="2416175" cy="70866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500" spc="-60">
                <a:solidFill>
                  <a:srgbClr val="FFFFFF"/>
                </a:solidFill>
                <a:latin typeface="Arial MT"/>
                <a:cs typeface="Arial MT"/>
              </a:rPr>
              <a:t>#incIude</a:t>
            </a:r>
            <a:r>
              <a:rPr dirty="0" sz="15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 MT"/>
                <a:cs typeface="Arial MT"/>
              </a:rPr>
              <a:t>&lt;string.h&gt;</a:t>
            </a:r>
            <a:endParaRPr sz="15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915"/>
              </a:spcBef>
              <a:tabLst>
                <a:tab pos="672465" algn="l"/>
                <a:tab pos="2187575" algn="l"/>
              </a:tabLst>
            </a:pPr>
            <a:r>
              <a:rPr dirty="0" sz="1400" spc="65">
                <a:solidFill>
                  <a:srgbClr val="FFFFFF"/>
                </a:solidFill>
                <a:latin typeface="Times New Roman"/>
                <a:cs typeface="Times New Roman"/>
              </a:rPr>
              <a:t>#öcí</a:t>
            </a:r>
            <a:r>
              <a:rPr dirty="0" sz="1400" spc="1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 spc="-100">
                <a:solidFill>
                  <a:srgbClr val="FFFFFF"/>
                </a:solidFill>
                <a:latin typeface="Times New Roman"/>
                <a:cs typeface="Times New Roman"/>
              </a:rPr>
              <a:t>MAX</a:t>
            </a:r>
            <a:r>
              <a:rPr dirty="0" sz="140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55">
                <a:solidFill>
                  <a:srgbClr val="FFFFFF"/>
                </a:solidFill>
                <a:latin typeface="Times New Roman"/>
                <a:cs typeface="Times New Roman"/>
              </a:rPr>
              <a:t>ITU</a:t>
            </a:r>
            <a:r>
              <a:rPr dirty="0" sz="1400" spc="-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2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1400" spc="-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ENTS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 spc="-145">
                <a:solidFill>
                  <a:srgbClr val="FFFFFF"/>
                </a:solidFill>
                <a:latin typeface="Times New Roman"/>
                <a:cs typeface="Times New Roman"/>
              </a:rPr>
              <a:t>OO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144487" y="1112266"/>
            <a:ext cx="212344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35">
                <a:solidFill>
                  <a:srgbClr val="FFFFFF"/>
                </a:solidFill>
                <a:latin typeface="Times New Roman"/>
                <a:cs typeface="Times New Roman"/>
              </a:rPr>
              <a:t>scanf(</a:t>
            </a:r>
            <a:r>
              <a:rPr dirty="0" sz="115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FFFFFF"/>
                </a:solidFill>
                <a:latin typeface="Times New Roman"/>
                <a:cs typeface="Times New Roman"/>
              </a:rPr>
              <a:t>%u",</a:t>
            </a:r>
            <a:r>
              <a:rPr dirty="0" sz="1150" spc="1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FFFFFF"/>
                </a:solidFill>
                <a:latin typeface="Times New Roman"/>
                <a:cs typeface="Times New Roman"/>
              </a:rPr>
              <a:t>&amp;st</a:t>
            </a:r>
            <a:r>
              <a:rPr dirty="0" sz="115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FFFFFF"/>
                </a:solidFill>
                <a:latin typeface="Times New Roman"/>
                <a:cs typeface="Times New Roman"/>
              </a:rPr>
              <a:t>uclents[i].iu);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095" y="1447800"/>
            <a:ext cx="18279110" cy="180340"/>
          </a:xfrm>
          <a:custGeom>
            <a:avLst/>
            <a:gdLst/>
            <a:ahLst/>
            <a:cxnLst/>
            <a:rect l="l" t="t" r="r" b="b"/>
            <a:pathLst>
              <a:path w="18279110" h="180339">
                <a:moveTo>
                  <a:pt x="18278856" y="179832"/>
                </a:moveTo>
                <a:lnTo>
                  <a:pt x="0" y="17983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179832"/>
                </a:lnTo>
                <a:close/>
              </a:path>
            </a:pathLst>
          </a:custGeom>
          <a:solidFill>
            <a:srgbClr val="79A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154438" y="1388618"/>
            <a:ext cx="22669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#defi</a:t>
            </a:r>
            <a:r>
              <a:rPr dirty="0" sz="1350" spc="-2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ne</a:t>
            </a:r>
            <a:r>
              <a:rPr dirty="0" sz="13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MAX</a:t>
            </a:r>
            <a:r>
              <a:rPr dirty="0" sz="1350" spc="3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SUBJECTS</a:t>
            </a:r>
            <a:r>
              <a:rPr dirty="0" sz="13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25">
                <a:solidFill>
                  <a:srgbClr val="FFFFFF"/>
                </a:solidFill>
                <a:latin typeface="Arial MT"/>
                <a:cs typeface="Arial MT"/>
              </a:rPr>
              <a:t>IO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147242" y="1422654"/>
            <a:ext cx="121348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pi</a:t>
            </a:r>
            <a:r>
              <a:rPr dirty="0" sz="12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inIf('</a:t>
            </a:r>
            <a:r>
              <a:rPr dirty="0" sz="12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Name</a:t>
            </a:r>
            <a:r>
              <a:rPr dirty="0" sz="1250" spc="114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1250" spc="-25">
                <a:solidFill>
                  <a:srgbClr val="FFFFFF"/>
                </a:solidFill>
                <a:latin typeface="Arial MT"/>
                <a:cs typeface="Arial MT"/>
              </a:rPr>
              <a:t>"),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095" y="1783079"/>
            <a:ext cx="18282285" cy="177165"/>
            <a:chOff x="6095" y="1783079"/>
            <a:chExt cx="18282285" cy="177165"/>
          </a:xfrm>
        </p:grpSpPr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62704" y="1783079"/>
              <a:ext cx="1225296" cy="176783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6095" y="1783079"/>
              <a:ext cx="18279110" cy="173990"/>
            </a:xfrm>
            <a:custGeom>
              <a:avLst/>
              <a:gdLst/>
              <a:ahLst/>
              <a:cxnLst/>
              <a:rect l="l" t="t" r="r" b="b"/>
              <a:pathLst>
                <a:path w="18279110" h="173989">
                  <a:moveTo>
                    <a:pt x="18278856" y="173736"/>
                  </a:moveTo>
                  <a:lnTo>
                    <a:pt x="0" y="173736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173736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119397" y="1713738"/>
            <a:ext cx="128841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85">
                <a:solidFill>
                  <a:srgbClr val="FFFFFF"/>
                </a:solidFill>
                <a:latin typeface="Arial MT"/>
                <a:cs typeface="Arial MT"/>
              </a:rPr>
              <a:t>Şpedef</a:t>
            </a:r>
            <a:r>
              <a:rPr dirty="0" sz="15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struct</a:t>
            </a:r>
            <a:r>
              <a:rPr dirty="0" sz="15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095" y="2106167"/>
            <a:ext cx="18282285" cy="189230"/>
            <a:chOff x="6095" y="2106167"/>
            <a:chExt cx="18282285" cy="189230"/>
          </a:xfrm>
        </p:grpSpPr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62704" y="2106167"/>
              <a:ext cx="1225296" cy="18897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6095" y="2106167"/>
              <a:ext cx="18279110" cy="186055"/>
            </a:xfrm>
            <a:custGeom>
              <a:avLst/>
              <a:gdLst/>
              <a:ahLst/>
              <a:cxnLst/>
              <a:rect l="l" t="t" r="r" b="b"/>
              <a:pathLst>
                <a:path w="18279110" h="186055">
                  <a:moveTo>
                    <a:pt x="18278856" y="185928"/>
                  </a:moveTo>
                  <a:lnTo>
                    <a:pt x="0" y="185928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185928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311185" y="2061464"/>
            <a:ext cx="4679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dirty="0" sz="15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Arial MT"/>
                <a:cs typeface="Arial MT"/>
              </a:rPr>
              <a:t>id;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6095" y="2429255"/>
            <a:ext cx="18282285" cy="207645"/>
            <a:chOff x="6095" y="2429255"/>
            <a:chExt cx="18282285" cy="207645"/>
          </a:xfrm>
        </p:grpSpPr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062704" y="2429255"/>
              <a:ext cx="1225296" cy="207264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6095" y="2429255"/>
              <a:ext cx="18279110" cy="204470"/>
            </a:xfrm>
            <a:custGeom>
              <a:avLst/>
              <a:gdLst/>
              <a:ahLst/>
              <a:cxnLst/>
              <a:rect l="l" t="t" r="r" b="b"/>
              <a:pathLst>
                <a:path w="18279110" h="204469">
                  <a:moveTo>
                    <a:pt x="18278856" y="204215"/>
                  </a:moveTo>
                  <a:lnTo>
                    <a:pt x="0" y="204215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04215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7311857" y="2390140"/>
            <a:ext cx="12674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char</a:t>
            </a:r>
            <a:r>
              <a:rPr dirty="0" sz="1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name[50],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3139852" y="1726438"/>
            <a:ext cx="2836545" cy="888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60">
                <a:solidFill>
                  <a:srgbClr val="FFFFFF"/>
                </a:solidFill>
                <a:latin typeface="Arial MT"/>
                <a:cs typeface="Arial MT"/>
              </a:rPr>
              <a:t>scanf("</a:t>
            </a:r>
            <a:r>
              <a:rPr dirty="0" sz="14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55">
                <a:solidFill>
                  <a:srgbClr val="FFFFFF"/>
                </a:solidFill>
                <a:latin typeface="Arial MT"/>
                <a:cs typeface="Arial MT"/>
              </a:rPr>
              <a:t>649["\n]",</a:t>
            </a:r>
            <a:r>
              <a:rPr dirty="0" sz="145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40">
                <a:solidFill>
                  <a:srgbClr val="FFFFFF"/>
                </a:solidFill>
                <a:latin typeface="Arial MT"/>
                <a:cs typeface="Arial MT"/>
              </a:rPr>
              <a:t>students[i].name);</a:t>
            </a:r>
            <a:endParaRPr sz="14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1070"/>
              </a:spcBef>
              <a:tabLst>
                <a:tab pos="546100" algn="l"/>
                <a:tab pos="948055" algn="l"/>
              </a:tabLst>
            </a:pP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(j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400" spc="-110">
                <a:solidFill>
                  <a:srgbClr val="FFFFFF"/>
                </a:solidFill>
                <a:latin typeface="Arial MT"/>
                <a:cs typeface="Arial MT"/>
              </a:rPr>
              <a:t>O;</a:t>
            </a:r>
            <a:r>
              <a:rPr dirty="0" sz="14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j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m;</a:t>
            </a:r>
            <a:r>
              <a:rPr dirty="0" sz="14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++j)</a:t>
            </a:r>
            <a:endParaRPr sz="14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625"/>
              </a:spcBef>
              <a:tabLst>
                <a:tab pos="2443480" algn="l"/>
              </a:tabLst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printf("Mark</a:t>
            </a:r>
            <a:r>
              <a:rPr dirty="0" sz="1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4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subject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96d: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j+1);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095" y="2752344"/>
            <a:ext cx="18282285" cy="231775"/>
            <a:chOff x="6095" y="2752344"/>
            <a:chExt cx="18282285" cy="231775"/>
          </a:xfrm>
        </p:grpSpPr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62704" y="2752344"/>
              <a:ext cx="1225296" cy="231648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095" y="2752344"/>
              <a:ext cx="18279110" cy="228600"/>
            </a:xfrm>
            <a:custGeom>
              <a:avLst/>
              <a:gdLst/>
              <a:ahLst/>
              <a:cxnLst/>
              <a:rect l="l" t="t" r="r" b="b"/>
              <a:pathLst>
                <a:path w="18279110" h="228600">
                  <a:moveTo>
                    <a:pt x="18278856" y="228600"/>
                  </a:moveTo>
                  <a:lnTo>
                    <a:pt x="0" y="228600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28600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7311464" y="2744216"/>
            <a:ext cx="23075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int</a:t>
            </a:r>
            <a:r>
              <a:rPr dirty="0" sz="15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FFFFFF"/>
                </a:solidFill>
                <a:latin typeface="Calibri"/>
                <a:cs typeface="Calibri"/>
              </a:rPr>
              <a:t>marks[MŒ_SUBJECTS],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6095" y="3075432"/>
            <a:ext cx="18282285" cy="238125"/>
            <a:chOff x="6095" y="3075432"/>
            <a:chExt cx="18282285" cy="238125"/>
          </a:xfrm>
        </p:grpSpPr>
        <p:pic>
          <p:nvPicPr>
            <p:cNvPr id="37" name="object 3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62704" y="3075432"/>
              <a:ext cx="1225296" cy="23774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5" y="3075432"/>
              <a:ext cx="7961376" cy="237743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095" y="3075432"/>
              <a:ext cx="18279110" cy="234950"/>
            </a:xfrm>
            <a:custGeom>
              <a:avLst/>
              <a:gdLst/>
              <a:ahLst/>
              <a:cxnLst/>
              <a:rect l="l" t="t" r="r" b="b"/>
              <a:pathLst>
                <a:path w="18279110" h="234950">
                  <a:moveTo>
                    <a:pt x="18278856" y="234696"/>
                  </a:moveTo>
                  <a:lnTo>
                    <a:pt x="0" y="234696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34696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3305879" y="2602238"/>
            <a:ext cx="3065780" cy="66294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885"/>
              </a:spcBef>
            </a:pPr>
            <a:r>
              <a:rPr dirty="0" sz="1400" spc="-40">
                <a:solidFill>
                  <a:srgbClr val="FFFFFF"/>
                </a:solidFill>
                <a:latin typeface="Arial MT"/>
                <a:cs typeface="Arial MT"/>
              </a:rPr>
              <a:t>scanf("%d",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 &amp;students[i].marks[j]);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1469390" algn="l"/>
              </a:tabLst>
            </a:pPr>
            <a:r>
              <a:rPr dirty="0" sz="1450" spc="-10">
                <a:solidFill>
                  <a:srgbClr val="FFFFFF"/>
                </a:solidFill>
                <a:latin typeface="Calibri"/>
                <a:cs typeface="Calibri"/>
              </a:rPr>
              <a:t>students[i].total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450" spc="-10">
                <a:solidFill>
                  <a:srgbClr val="FFFFFF"/>
                </a:solidFill>
                <a:latin typeface="Calibri"/>
                <a:cs typeface="Calibri"/>
              </a:rPr>
              <a:t>students[i].marksğ];)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095" y="3398520"/>
            <a:ext cx="18279110" cy="265430"/>
            <a:chOff x="6095" y="3398520"/>
            <a:chExt cx="18279110" cy="265430"/>
          </a:xfrm>
        </p:grpSpPr>
        <p:pic>
          <p:nvPicPr>
            <p:cNvPr id="42" name="object 4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164311" y="3407664"/>
              <a:ext cx="3575304" cy="152400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6095" y="3398520"/>
              <a:ext cx="18279110" cy="265430"/>
            </a:xfrm>
            <a:custGeom>
              <a:avLst/>
              <a:gdLst/>
              <a:ahLst/>
              <a:cxnLst/>
              <a:rect l="l" t="t" r="r" b="b"/>
              <a:pathLst>
                <a:path w="18279110" h="265429">
                  <a:moveTo>
                    <a:pt x="18278856" y="265176"/>
                  </a:moveTo>
                  <a:lnTo>
                    <a:pt x="0" y="265176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65176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6095" y="3424173"/>
            <a:ext cx="1827911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549525">
              <a:lnSpc>
                <a:spcPct val="100000"/>
              </a:lnSpc>
              <a:spcBef>
                <a:spcPts val="100"/>
              </a:spcBef>
            </a:pPr>
            <a:r>
              <a:rPr dirty="0" sz="1450" spc="-95">
                <a:solidFill>
                  <a:srgbClr val="FFFFFF"/>
                </a:solidFill>
                <a:latin typeface="Courier New"/>
                <a:cs typeface="Courier New"/>
              </a:rPr>
              <a:t>foatave+uce;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6095" y="3721608"/>
            <a:ext cx="18279110" cy="283845"/>
            <a:chOff x="6095" y="3721608"/>
            <a:chExt cx="18279110" cy="283845"/>
          </a:xfrm>
        </p:grpSpPr>
        <p:pic>
          <p:nvPicPr>
            <p:cNvPr id="46" name="object 4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167359" y="3730752"/>
              <a:ext cx="1261871" cy="152400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6095" y="3721608"/>
              <a:ext cx="18279110" cy="283845"/>
            </a:xfrm>
            <a:custGeom>
              <a:avLst/>
              <a:gdLst/>
              <a:ahLst/>
              <a:cxnLst/>
              <a:rect l="l" t="t" r="r" b="b"/>
              <a:pathLst>
                <a:path w="18279110" h="283845">
                  <a:moveTo>
                    <a:pt x="18278856" y="283464"/>
                  </a:moveTo>
                  <a:lnTo>
                    <a:pt x="0" y="283464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83464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6095" y="3787647"/>
            <a:ext cx="182791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72415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clsnr¿iaue,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6095" y="4044696"/>
            <a:ext cx="18282285" cy="299085"/>
            <a:chOff x="6095" y="4044696"/>
            <a:chExt cx="18282285" cy="299085"/>
          </a:xfrm>
        </p:grpSpPr>
        <p:pic>
          <p:nvPicPr>
            <p:cNvPr id="50" name="object 5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576303" y="4044696"/>
              <a:ext cx="963168" cy="298703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062704" y="4044696"/>
              <a:ext cx="1225296" cy="298703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011911" y="4053840"/>
              <a:ext cx="24384" cy="131063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130783" y="4087368"/>
              <a:ext cx="164592" cy="128015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6095" y="4044696"/>
              <a:ext cx="18279110" cy="295910"/>
            </a:xfrm>
            <a:custGeom>
              <a:avLst/>
              <a:gdLst/>
              <a:ahLst/>
              <a:cxnLst/>
              <a:rect l="l" t="t" r="r" b="b"/>
              <a:pathLst>
                <a:path w="18279110" h="295910">
                  <a:moveTo>
                    <a:pt x="18278856" y="295656"/>
                  </a:moveTo>
                  <a:lnTo>
                    <a:pt x="0" y="295656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95656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7248445" y="4106417"/>
            <a:ext cx="69405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Student;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6095" y="4367784"/>
            <a:ext cx="18279110" cy="1130935"/>
          </a:xfrm>
          <a:custGeom>
            <a:avLst/>
            <a:gdLst/>
            <a:ahLst/>
            <a:cxnLst/>
            <a:rect l="l" t="t" r="r" b="b"/>
            <a:pathLst>
              <a:path w="18279110" h="1130935">
                <a:moveTo>
                  <a:pt x="18278856" y="1130808"/>
                </a:moveTo>
                <a:lnTo>
                  <a:pt x="0" y="113080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1130808"/>
                </a:lnTo>
                <a:close/>
              </a:path>
            </a:pathLst>
          </a:custGeom>
          <a:solidFill>
            <a:srgbClr val="79A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7149015" y="4345686"/>
            <a:ext cx="2405380" cy="104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3990" marR="206375" indent="-174625">
              <a:lnSpc>
                <a:spcPct val="143200"/>
              </a:lnSpc>
              <a:spcBef>
                <a:spcPts val="100"/>
              </a:spcBef>
              <a:tabLst>
                <a:tab pos="944244" algn="l"/>
              </a:tabLst>
            </a:pPr>
            <a:r>
              <a:rPr dirty="0" sz="1550" spc="-60">
                <a:solidFill>
                  <a:srgbClr val="FFFFFF"/>
                </a:solidFill>
                <a:latin typeface="Arial MT"/>
                <a:cs typeface="Arial MT"/>
              </a:rPr>
              <a:t>char</a:t>
            </a:r>
            <a:r>
              <a:rPr dirty="0" sz="1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65">
                <a:solidFill>
                  <a:srgbClr val="FFFFFF"/>
                </a:solidFill>
                <a:latin typeface="Arial MT"/>
                <a:cs typeface="Arial MT"/>
              </a:rPr>
              <a:t>caIc_grade(float</a:t>
            </a:r>
            <a:r>
              <a:rPr dirty="0" sz="155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14">
                <a:solidFill>
                  <a:srgbClr val="FFFFFF"/>
                </a:solidFill>
                <a:latin typeface="Arial MT"/>
                <a:cs typeface="Arial MT"/>
              </a:rPr>
              <a:t>avg)</a:t>
            </a:r>
            <a:r>
              <a:rPr dirty="0" sz="15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{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dirty="0" sz="1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 MT"/>
                <a:cs typeface="Arial MT"/>
              </a:rPr>
              <a:t>(avg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550" spc="-120">
                <a:solidFill>
                  <a:srgbClr val="FFFFFF"/>
                </a:solidFill>
                <a:latin typeface="Arial MT"/>
                <a:cs typeface="Arial MT"/>
              </a:rPr>
              <a:t>9O)</a:t>
            </a:r>
            <a:r>
              <a:rPr dirty="0" sz="15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return</a:t>
            </a:r>
            <a:r>
              <a:rPr dirty="0" sz="15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 MT"/>
                <a:cs typeface="Arial MT"/>
              </a:rPr>
              <a:t>'A';</a:t>
            </a:r>
            <a:endParaRPr sz="1550">
              <a:latin typeface="Arial MT"/>
              <a:cs typeface="Arial MT"/>
            </a:endParaRPr>
          </a:p>
          <a:p>
            <a:pPr marL="177165">
              <a:lnSpc>
                <a:spcPct val="100000"/>
              </a:lnSpc>
              <a:spcBef>
                <a:spcPts val="825"/>
              </a:spcBef>
            </a:pPr>
            <a:r>
              <a:rPr dirty="0" sz="1550" spc="-75">
                <a:solidFill>
                  <a:srgbClr val="FFFFFF"/>
                </a:solidFill>
                <a:latin typeface="Arial MT"/>
                <a:cs typeface="Arial MT"/>
              </a:rPr>
              <a:t>else</a:t>
            </a:r>
            <a:r>
              <a:rPr dirty="0" sz="155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dirty="0" sz="15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05">
                <a:solidFill>
                  <a:srgbClr val="FFFFFF"/>
                </a:solidFill>
                <a:latin typeface="Arial MT"/>
                <a:cs typeface="Arial MT"/>
              </a:rPr>
              <a:t>(avg</a:t>
            </a:r>
            <a:r>
              <a:rPr dirty="0" sz="15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35">
                <a:solidFill>
                  <a:srgbClr val="FFFFFF"/>
                </a:solidFill>
                <a:latin typeface="Arial MT"/>
                <a:cs typeface="Arial MT"/>
              </a:rPr>
              <a:t>&gt;= 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75)</a:t>
            </a:r>
            <a:r>
              <a:rPr dirty="0" sz="15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40">
                <a:solidFill>
                  <a:srgbClr val="FFFFFF"/>
                </a:solidFill>
                <a:latin typeface="Arial MT"/>
                <a:cs typeface="Arial MT"/>
              </a:rPr>
              <a:t>return</a:t>
            </a:r>
            <a:r>
              <a:rPr dirty="0" sz="15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 MT"/>
                <a:cs typeface="Arial MT"/>
              </a:rPr>
              <a:t>'B';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2815989" y="3875532"/>
            <a:ext cx="3880485" cy="678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735" marR="5080" indent="-166370">
              <a:lnSpc>
                <a:spcPct val="152900"/>
              </a:lnSpc>
              <a:spcBef>
                <a:spcPts val="100"/>
              </a:spcBef>
              <a:tabLst>
                <a:tab pos="479425" algn="l"/>
              </a:tabLst>
            </a:pP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ca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rade(students[i].average);) printf("\n\nID\tName\tTotaI\tAverage\tGrade\n");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2985877" y="4637532"/>
            <a:ext cx="14878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25780" algn="l"/>
                <a:tab pos="925194" algn="l"/>
              </a:tabLst>
            </a:pP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(i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400" spc="-130">
                <a:solidFill>
                  <a:srgbClr val="FFFFFF"/>
                </a:solidFill>
                <a:latin typeface="Arial MT"/>
                <a:cs typeface="Arial MT"/>
              </a:rPr>
              <a:t>O; 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n;</a:t>
            </a:r>
            <a:r>
              <a:rPr dirty="0" sz="14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Arial MT"/>
                <a:cs typeface="Arial MT"/>
              </a:rPr>
              <a:t>++i) 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3149541" y="4847843"/>
            <a:ext cx="2626995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0815" marR="5080" indent="-171450">
              <a:lnSpc>
                <a:spcPct val="1514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printf("Bd\t96s\t96d\t%.2f\t96c\n", </a:t>
            </a: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students[i].id,</a:t>
            </a:r>
            <a:r>
              <a:rPr dirty="0"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students[i].name,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6095" y="5538215"/>
            <a:ext cx="18282285" cy="280670"/>
            <a:chOff x="6095" y="5538215"/>
            <a:chExt cx="18282285" cy="280670"/>
          </a:xfrm>
        </p:grpSpPr>
        <p:pic>
          <p:nvPicPr>
            <p:cNvPr id="62" name="object 6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062704" y="5538215"/>
              <a:ext cx="1225296" cy="280415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6095" y="5538215"/>
              <a:ext cx="18279110" cy="277495"/>
            </a:xfrm>
            <a:custGeom>
              <a:avLst/>
              <a:gdLst/>
              <a:ahLst/>
              <a:cxnLst/>
              <a:rect l="l" t="t" r="r" b="b"/>
              <a:pathLst>
                <a:path w="18279110" h="277495">
                  <a:moveTo>
                    <a:pt x="18278856" y="277368"/>
                  </a:moveTo>
                  <a:lnTo>
                    <a:pt x="0" y="277368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77368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7326045" y="5459476"/>
            <a:ext cx="22580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90">
                <a:solidFill>
                  <a:srgbClr val="FFFFFF"/>
                </a:solidFill>
                <a:latin typeface="Arial MT"/>
                <a:cs typeface="Arial MT"/>
              </a:rPr>
              <a:t>else</a:t>
            </a:r>
            <a:r>
              <a:rPr dirty="0" sz="16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30">
                <a:solidFill>
                  <a:srgbClr val="FFFFFF"/>
                </a:solidFill>
                <a:latin typeface="Arial MT"/>
                <a:cs typeface="Arial MT"/>
              </a:rPr>
              <a:t>(avg</a:t>
            </a:r>
            <a:r>
              <a:rPr dirty="0" sz="16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35">
                <a:solidFill>
                  <a:srgbClr val="FFFFFF"/>
                </a:solidFill>
                <a:latin typeface="Arial MT"/>
                <a:cs typeface="Arial MT"/>
              </a:rPr>
              <a:t>»=</a:t>
            </a:r>
            <a:r>
              <a:rPr dirty="0" sz="16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FFFFFF"/>
                </a:solidFill>
                <a:latin typeface="Arial MT"/>
                <a:cs typeface="Arial MT"/>
              </a:rPr>
              <a:t>60)</a:t>
            </a:r>
            <a:r>
              <a:rPr dirty="0" sz="16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70">
                <a:solidFill>
                  <a:srgbClr val="FFFFFF"/>
                </a:solidFill>
                <a:latin typeface="Arial MT"/>
                <a:cs typeface="Arial MT"/>
              </a:rPr>
              <a:t>return</a:t>
            </a:r>
            <a:r>
              <a:rPr dirty="0" sz="16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FFFFFF"/>
                </a:solidFill>
                <a:latin typeface="Arial MT"/>
                <a:cs typeface="Arial MT"/>
              </a:rPr>
              <a:t>'C';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12815658" y="5597397"/>
            <a:ext cx="124650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50" spc="-10">
                <a:solidFill>
                  <a:srgbClr val="FFFFFF"/>
                </a:solidFill>
                <a:latin typeface="Calibri"/>
                <a:cs typeface="Calibri"/>
              </a:rPr>
              <a:t>students[i].total,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6095" y="5873496"/>
            <a:ext cx="18282285" cy="274320"/>
            <a:chOff x="6095" y="5873496"/>
            <a:chExt cx="18282285" cy="274320"/>
          </a:xfrm>
        </p:grpSpPr>
        <p:pic>
          <p:nvPicPr>
            <p:cNvPr id="67" name="object 6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576303" y="5873496"/>
              <a:ext cx="963168" cy="274320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62704" y="5873496"/>
              <a:ext cx="1225296" cy="274320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6095" y="5873496"/>
              <a:ext cx="18279110" cy="271780"/>
            </a:xfrm>
            <a:custGeom>
              <a:avLst/>
              <a:gdLst/>
              <a:ahLst/>
              <a:cxnLst/>
              <a:rect l="l" t="t" r="r" b="b"/>
              <a:pathLst>
                <a:path w="18279110" h="271779">
                  <a:moveTo>
                    <a:pt x="18278856" y="271272"/>
                  </a:moveTo>
                  <a:lnTo>
                    <a:pt x="0" y="271272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71272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7326045" y="5800852"/>
            <a:ext cx="2254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90">
                <a:solidFill>
                  <a:srgbClr val="FFFFFF"/>
                </a:solidFill>
                <a:latin typeface="Arial MT"/>
                <a:cs typeface="Arial MT"/>
              </a:rPr>
              <a:t>else</a:t>
            </a:r>
            <a:r>
              <a:rPr dirty="0" sz="16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dirty="0" sz="16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25">
                <a:solidFill>
                  <a:srgbClr val="FFFFFF"/>
                </a:solidFill>
                <a:latin typeface="Arial MT"/>
                <a:cs typeface="Arial MT"/>
              </a:rPr>
              <a:t>(avg</a:t>
            </a:r>
            <a:r>
              <a:rPr dirty="0" sz="16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180">
                <a:solidFill>
                  <a:srgbClr val="FFFFFF"/>
                </a:solidFill>
                <a:latin typeface="Arial MT"/>
                <a:cs typeface="Arial MT"/>
              </a:rPr>
              <a:t>&gt;=</a:t>
            </a:r>
            <a:r>
              <a:rPr dirty="0" sz="16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35">
                <a:solidFill>
                  <a:srgbClr val="FFFFFF"/>
                </a:solidFill>
                <a:latin typeface="Arial MT"/>
                <a:cs typeface="Arial MT"/>
              </a:rPr>
              <a:t>50)</a:t>
            </a:r>
            <a:r>
              <a:rPr dirty="0" sz="16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75">
                <a:solidFill>
                  <a:srgbClr val="FFFFFF"/>
                </a:solidFill>
                <a:latin typeface="Arial MT"/>
                <a:cs typeface="Arial MT"/>
              </a:rPr>
              <a:t>return</a:t>
            </a:r>
            <a:r>
              <a:rPr dirty="0" sz="16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FFFFFF"/>
                </a:solidFill>
                <a:latin typeface="Arial MT"/>
                <a:cs typeface="Arial MT"/>
              </a:rPr>
              <a:t>'D';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3277519" y="5920485"/>
            <a:ext cx="298259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50" spc="-55">
                <a:solidFill>
                  <a:srgbClr val="FFFFFF"/>
                </a:solidFill>
                <a:latin typeface="Arial MT"/>
                <a:cs typeface="Arial MT"/>
              </a:rPr>
              <a:t>students[i].average,</a:t>
            </a:r>
            <a:r>
              <a:rPr dirty="0" sz="145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35">
                <a:solidFill>
                  <a:srgbClr val="FFFFFF"/>
                </a:solidFill>
                <a:latin typeface="Arial MT"/>
                <a:cs typeface="Arial MT"/>
              </a:rPr>
              <a:t>students[i].grade);)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72" name="object 72" descr=""/>
          <p:cNvGrpSpPr/>
          <p:nvPr/>
        </p:nvGrpSpPr>
        <p:grpSpPr>
          <a:xfrm>
            <a:off x="6095" y="6214871"/>
            <a:ext cx="18282285" cy="256540"/>
            <a:chOff x="6095" y="6214871"/>
            <a:chExt cx="18282285" cy="256540"/>
          </a:xfrm>
        </p:grpSpPr>
        <p:pic>
          <p:nvPicPr>
            <p:cNvPr id="73" name="object 7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062704" y="6214871"/>
              <a:ext cx="1225296" cy="256032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6095" y="6214871"/>
              <a:ext cx="18279110" cy="253365"/>
            </a:xfrm>
            <a:custGeom>
              <a:avLst/>
              <a:gdLst/>
              <a:ahLst/>
              <a:cxnLst/>
              <a:rect l="l" t="t" r="r" b="b"/>
              <a:pathLst>
                <a:path w="18279110" h="253364">
                  <a:moveTo>
                    <a:pt x="18278856" y="252984"/>
                  </a:moveTo>
                  <a:lnTo>
                    <a:pt x="0" y="252984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52984"/>
                  </a:lnTo>
                  <a:close/>
                </a:path>
              </a:pathLst>
            </a:custGeom>
            <a:solidFill>
              <a:srgbClr val="79A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7323753" y="6148578"/>
            <a:ext cx="81851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50" spc="-40">
                <a:solidFill>
                  <a:srgbClr val="FFFFFF"/>
                </a:solidFill>
                <a:latin typeface="Arial MT"/>
                <a:cs typeface="Arial MT"/>
              </a:rPr>
              <a:t>return</a:t>
            </a:r>
            <a:r>
              <a:rPr dirty="0" sz="1550" spc="-60">
                <a:solidFill>
                  <a:srgbClr val="FFFFFF"/>
                </a:solidFill>
                <a:latin typeface="Arial MT"/>
                <a:cs typeface="Arial MT"/>
              </a:rPr>
              <a:t> 'F',)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2977926" y="6237223"/>
            <a:ext cx="84264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62940" algn="l"/>
              </a:tabLst>
            </a:pPr>
            <a:r>
              <a:rPr dirty="0" sz="1500" spc="-35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dirty="0" sz="15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Arial MT"/>
                <a:cs typeface="Arial MT"/>
              </a:rPr>
              <a:t>top</a:t>
            </a:r>
            <a:r>
              <a:rPr dirty="0" sz="15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500" spc="-25">
                <a:solidFill>
                  <a:srgbClr val="FFFFFF"/>
                </a:solidFill>
                <a:latin typeface="Arial MT"/>
                <a:cs typeface="Arial MT"/>
              </a:rPr>
              <a:t>0;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6095" y="6556247"/>
            <a:ext cx="18282285" cy="231775"/>
            <a:chOff x="6095" y="6556247"/>
            <a:chExt cx="18282285" cy="231775"/>
          </a:xfrm>
        </p:grpSpPr>
        <p:pic>
          <p:nvPicPr>
            <p:cNvPr id="78" name="object 7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62704" y="6556247"/>
              <a:ext cx="1225296" cy="231648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6095" y="6556247"/>
              <a:ext cx="18279110" cy="228600"/>
            </a:xfrm>
            <a:custGeom>
              <a:avLst/>
              <a:gdLst/>
              <a:ahLst/>
              <a:cxnLst/>
              <a:rect l="l" t="t" r="r" b="b"/>
              <a:pathLst>
                <a:path w="18279110" h="228600">
                  <a:moveTo>
                    <a:pt x="18278856" y="228600"/>
                  </a:moveTo>
                  <a:lnTo>
                    <a:pt x="0" y="228600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22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7134269" y="6489953"/>
            <a:ext cx="86995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35">
                <a:solidFill>
                  <a:srgbClr val="FFFFFF"/>
                </a:solidFill>
                <a:latin typeface="Calibri"/>
                <a:cs typeface="Calibri"/>
              </a:rPr>
              <a:t>int</a:t>
            </a:r>
            <a:r>
              <a:rPr dirty="0" sz="155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30">
                <a:solidFill>
                  <a:srgbClr val="FFFFFF"/>
                </a:solidFill>
                <a:latin typeface="Calibri"/>
                <a:cs typeface="Calibri"/>
              </a:rPr>
              <a:t>main()</a:t>
            </a:r>
            <a:r>
              <a:rPr dirty="0" sz="15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50">
                <a:solidFill>
                  <a:srgbClr val="79AAC1"/>
                </a:solidFill>
                <a:latin typeface="Calibri"/>
                <a:cs typeface="Calibri"/>
              </a:rPr>
              <a:t>{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2959803" y="6569964"/>
            <a:ext cx="13735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FFFFFF"/>
                </a:solidFill>
                <a:latin typeface="Arial"/>
                <a:cs typeface="Arial"/>
              </a:rPr>
              <a:t>(or</a:t>
            </a:r>
            <a:r>
              <a:rPr dirty="0" sz="1400" spc="11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\i</a:t>
            </a:r>
            <a:r>
              <a:rPr dirty="0" sz="14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25" i="1">
                <a:solidFill>
                  <a:srgbClr val="FFFFFF"/>
                </a:solidFill>
                <a:latin typeface="Arial"/>
                <a:cs typeface="Arial"/>
              </a:rPr>
              <a:t>--</a:t>
            </a:r>
            <a:r>
              <a:rPr dirty="0" sz="1400" spc="-1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>
                <a:solidFill>
                  <a:srgbClr val="FFFFFF"/>
                </a:solidFill>
                <a:latin typeface="Arial MT"/>
                <a:cs typeface="Arial MT"/>
              </a:rPr>
              <a:t>1;</a:t>
            </a:r>
            <a:r>
              <a:rPr dirty="0" sz="14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65">
                <a:solidFill>
                  <a:srgbClr val="79AAC1"/>
                </a:solidFill>
                <a:latin typeface="Arial MT"/>
                <a:cs typeface="Arial MT"/>
              </a:rPr>
              <a:t>&lt;</a:t>
            </a:r>
            <a:r>
              <a:rPr dirty="0" sz="1400" spc="-125">
                <a:solidFill>
                  <a:srgbClr val="79AAC1"/>
                </a:solidFill>
                <a:latin typeface="Arial MT"/>
                <a:cs typeface="Arial MT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n;</a:t>
            </a:r>
            <a:r>
              <a:rPr dirty="0" sz="140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++i)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2" name="object 82" descr=""/>
          <p:cNvSpPr/>
          <p:nvPr/>
        </p:nvSpPr>
        <p:spPr>
          <a:xfrm>
            <a:off x="6095" y="6903719"/>
            <a:ext cx="18279110" cy="210820"/>
          </a:xfrm>
          <a:custGeom>
            <a:avLst/>
            <a:gdLst/>
            <a:ahLst/>
            <a:cxnLst/>
            <a:rect l="l" t="t" r="r" b="b"/>
            <a:pathLst>
              <a:path w="18279110" h="210820">
                <a:moveTo>
                  <a:pt x="18278856" y="210311"/>
                </a:moveTo>
                <a:lnTo>
                  <a:pt x="0" y="210311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 txBox="1"/>
          <p:nvPr/>
        </p:nvSpPr>
        <p:spPr>
          <a:xfrm>
            <a:off x="7310763" y="6831330"/>
            <a:ext cx="89471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3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dirty="0" sz="155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n,</a:t>
            </a:r>
            <a:r>
              <a:rPr dirty="0" sz="1550" spc="-2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80">
                <a:solidFill>
                  <a:srgbClr val="FFFFFF"/>
                </a:solidFill>
                <a:latin typeface="Arial MT"/>
                <a:cs typeface="Arial MT"/>
              </a:rPr>
              <a:t>m,</a:t>
            </a:r>
            <a:r>
              <a:rPr dirty="0" sz="155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 MT"/>
                <a:cs typeface="Arial MT"/>
              </a:rPr>
              <a:t>i,j;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13133705" y="6893052"/>
            <a:ext cx="35814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dirty="0" sz="14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(students[i].total</a:t>
            </a:r>
            <a:r>
              <a:rPr dirty="0" sz="14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79AAC1"/>
                </a:solidFill>
                <a:latin typeface="Arial MT"/>
                <a:cs typeface="Arial MT"/>
              </a:rPr>
              <a:t>»</a:t>
            </a:r>
            <a:r>
              <a:rPr dirty="0" sz="1400" spc="-150">
                <a:solidFill>
                  <a:srgbClr val="79AAC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students[top].total)</a:t>
            </a: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top</a:t>
            </a:r>
            <a:r>
              <a:rPr dirty="0" sz="14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79AAC1"/>
                </a:solidFill>
                <a:latin typeface="Arial MT"/>
                <a:cs typeface="Arial MT"/>
              </a:rPr>
              <a:t>=</a:t>
            </a:r>
            <a:r>
              <a:rPr dirty="0" sz="1400" spc="-125">
                <a:solidFill>
                  <a:srgbClr val="79AAC1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i;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5" name="object 85" descr=""/>
          <p:cNvSpPr/>
          <p:nvPr/>
        </p:nvSpPr>
        <p:spPr>
          <a:xfrm>
            <a:off x="6095" y="7239000"/>
            <a:ext cx="18279110" cy="198120"/>
          </a:xfrm>
          <a:custGeom>
            <a:avLst/>
            <a:gdLst/>
            <a:ahLst/>
            <a:cxnLst/>
            <a:rect l="l" t="t" r="r" b="b"/>
            <a:pathLst>
              <a:path w="18279110" h="198120">
                <a:moveTo>
                  <a:pt x="18278856" y="198120"/>
                </a:moveTo>
                <a:lnTo>
                  <a:pt x="0" y="198120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198120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 txBox="1"/>
          <p:nvPr/>
        </p:nvSpPr>
        <p:spPr>
          <a:xfrm>
            <a:off x="7318896" y="7185659"/>
            <a:ext cx="29591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Student</a:t>
            </a:r>
            <a:r>
              <a:rPr dirty="0" sz="14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students[MAX</a:t>
            </a:r>
            <a:r>
              <a:rPr dirty="0" sz="1400" spc="43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STUDENTS];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12975717" y="7216393"/>
            <a:ext cx="351091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printf("\nTop</a:t>
            </a:r>
            <a:r>
              <a:rPr dirty="0" sz="13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Performer:</a:t>
            </a:r>
            <a:r>
              <a:rPr dirty="0" sz="13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EFEFEF"/>
                </a:solidFill>
                <a:latin typeface="Arial MT"/>
                <a:cs typeface="Arial MT"/>
              </a:rPr>
              <a:t>%s</a:t>
            </a:r>
            <a:r>
              <a:rPr dirty="0" sz="1350" spc="-1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1350" spc="-65">
                <a:solidFill>
                  <a:srgbClr val="FFFFFF"/>
                </a:solidFill>
                <a:latin typeface="Arial MT"/>
                <a:cs typeface="Arial MT"/>
              </a:rPr>
              <a:t>(ID:</a:t>
            </a:r>
            <a:r>
              <a:rPr dirty="0" sz="13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%d)</a:t>
            </a:r>
            <a:r>
              <a:rPr dirty="0" sz="13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35">
                <a:solidFill>
                  <a:srgbClr val="FFFFFF"/>
                </a:solidFill>
                <a:latin typeface="Arial MT"/>
                <a:cs typeface="Arial MT"/>
              </a:rPr>
              <a:t>Total:</a:t>
            </a:r>
            <a:r>
              <a:rPr dirty="0" sz="13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25">
                <a:solidFill>
                  <a:srgbClr val="FFFFFF"/>
                </a:solidFill>
                <a:latin typeface="Arial MT"/>
                <a:cs typeface="Arial MT"/>
              </a:rPr>
              <a:t>%d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8" name="object 88" descr=""/>
          <p:cNvSpPr/>
          <p:nvPr/>
        </p:nvSpPr>
        <p:spPr>
          <a:xfrm>
            <a:off x="6095" y="7580376"/>
            <a:ext cx="18279110" cy="180340"/>
          </a:xfrm>
          <a:custGeom>
            <a:avLst/>
            <a:gdLst/>
            <a:ahLst/>
            <a:cxnLst/>
            <a:rect l="l" t="t" r="r" b="b"/>
            <a:pathLst>
              <a:path w="18279110" h="180340">
                <a:moveTo>
                  <a:pt x="18278856" y="179832"/>
                </a:moveTo>
                <a:lnTo>
                  <a:pt x="0" y="17983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179832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 txBox="1"/>
          <p:nvPr/>
        </p:nvSpPr>
        <p:spPr>
          <a:xfrm>
            <a:off x="7321677" y="7530338"/>
            <a:ext cx="28517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printf("Enter</a:t>
            </a:r>
            <a:r>
              <a:rPr dirty="0" sz="1350" spc="3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dirty="0" sz="1350" spc="2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350" spc="3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FFFFFF"/>
                </a:solidFill>
                <a:latin typeface="Arial MT"/>
                <a:cs typeface="Arial MT"/>
              </a:rPr>
              <a:t>students:</a:t>
            </a:r>
            <a:r>
              <a:rPr dirty="0" sz="1350" spc="1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-25">
                <a:solidFill>
                  <a:srgbClr val="FFFFFF"/>
                </a:solidFill>
                <a:latin typeface="Arial MT"/>
                <a:cs typeface="Arial MT"/>
              </a:rPr>
              <a:t>");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12813512" y="7552182"/>
            <a:ext cx="132461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Average:</a:t>
            </a:r>
            <a:r>
              <a:rPr dirty="0" sz="12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 MT"/>
                <a:cs typeface="Arial MT"/>
              </a:rPr>
              <a:t>%.2f\n",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91" name="object 91" descr=""/>
          <p:cNvSpPr/>
          <p:nvPr/>
        </p:nvSpPr>
        <p:spPr>
          <a:xfrm>
            <a:off x="6095" y="7915656"/>
            <a:ext cx="18279110" cy="173990"/>
          </a:xfrm>
          <a:custGeom>
            <a:avLst/>
            <a:gdLst/>
            <a:ahLst/>
            <a:cxnLst/>
            <a:rect l="l" t="t" r="r" b="b"/>
            <a:pathLst>
              <a:path w="18279110" h="173990">
                <a:moveTo>
                  <a:pt x="18278856" y="173736"/>
                </a:moveTo>
                <a:lnTo>
                  <a:pt x="0" y="173736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173736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 txBox="1"/>
          <p:nvPr/>
        </p:nvSpPr>
        <p:spPr>
          <a:xfrm>
            <a:off x="7321414" y="7865364"/>
            <a:ext cx="1305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scanf("%d",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 &amp;n);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13143484" y="7868919"/>
            <a:ext cx="28105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students[top].name,</a:t>
            </a:r>
            <a:r>
              <a:rPr dirty="0" sz="13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students[top].id,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4" name="object 94" descr=""/>
          <p:cNvSpPr/>
          <p:nvPr/>
        </p:nvSpPr>
        <p:spPr>
          <a:xfrm>
            <a:off x="6095" y="8257031"/>
            <a:ext cx="18279110" cy="972819"/>
          </a:xfrm>
          <a:custGeom>
            <a:avLst/>
            <a:gdLst/>
            <a:ahLst/>
            <a:cxnLst/>
            <a:rect l="l" t="t" r="r" b="b"/>
            <a:pathLst>
              <a:path w="18279110" h="972820">
                <a:moveTo>
                  <a:pt x="18278856" y="972312"/>
                </a:moveTo>
                <a:lnTo>
                  <a:pt x="0" y="97231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972312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 txBox="1"/>
          <p:nvPr/>
        </p:nvSpPr>
        <p:spPr>
          <a:xfrm>
            <a:off x="7320841" y="8079993"/>
            <a:ext cx="2837815" cy="708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54500"/>
              </a:lnSpc>
              <a:spcBef>
                <a:spcPts val="100"/>
              </a:spcBef>
            </a:pPr>
            <a:r>
              <a:rPr dirty="0" sz="1450" spc="-10">
                <a:solidFill>
                  <a:srgbClr val="FFFFFF"/>
                </a:solidFill>
                <a:latin typeface="Arial MT"/>
                <a:cs typeface="Arial MT"/>
              </a:rPr>
              <a:t>printf("Enter</a:t>
            </a:r>
            <a:r>
              <a:rPr dirty="0" sz="14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dirty="0" sz="1450">
                <a:solidFill>
                  <a:srgbClr val="FFFFFF"/>
                </a:solidFill>
                <a:latin typeface="Arial MT"/>
                <a:cs typeface="Arial MT"/>
              </a:rPr>
              <a:t> of</a:t>
            </a:r>
            <a:r>
              <a:rPr dirty="0" sz="14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Arial MT"/>
                <a:cs typeface="Arial MT"/>
              </a:rPr>
              <a:t>subjects:</a:t>
            </a:r>
            <a:r>
              <a:rPr dirty="0" sz="14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Arial MT"/>
                <a:cs typeface="Arial MT"/>
              </a:rPr>
              <a:t>"); scanf("%d",</a:t>
            </a:r>
            <a:r>
              <a:rPr dirty="0" sz="1450" spc="-20">
                <a:solidFill>
                  <a:srgbClr val="FFFFFF"/>
                </a:solidFill>
                <a:latin typeface="Arial MT"/>
                <a:cs typeface="Arial MT"/>
              </a:rPr>
              <a:t> &amp;m);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12602034" y="8341867"/>
            <a:ext cx="4378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FFFFFF"/>
                </a:solidFill>
                <a:latin typeface="Arial MT"/>
                <a:cs typeface="Arial MT"/>
              </a:rPr>
              <a:t>students[topj.total,</a:t>
            </a:r>
            <a:r>
              <a:rPr dirty="0" sz="180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students[topj.average);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7" name="object 97" descr=""/>
          <p:cNvSpPr/>
          <p:nvPr/>
        </p:nvSpPr>
        <p:spPr>
          <a:xfrm>
            <a:off x="6095" y="9390888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 txBox="1"/>
          <p:nvPr/>
        </p:nvSpPr>
        <p:spPr>
          <a:xfrm>
            <a:off x="634453" y="8678480"/>
            <a:ext cx="5658485" cy="1198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4190"/>
              </a:lnSpc>
            </a:pPr>
            <a:r>
              <a:rPr dirty="0" sz="3700" spc="-620">
                <a:solidFill>
                  <a:srgbClr val="F2F2F2"/>
                </a:solidFill>
                <a:latin typeface="Arial MT"/>
                <a:cs typeface="Arial MT"/>
              </a:rPr>
              <a:t>C</a:t>
            </a:r>
            <a:r>
              <a:rPr dirty="0" sz="3700" spc="35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3700" spc="95">
                <a:solidFill>
                  <a:srgbClr val="F2F2F2"/>
                </a:solidFill>
                <a:latin typeface="Arial MT"/>
                <a:cs typeface="Arial MT"/>
              </a:rPr>
              <a:t>Programming</a:t>
            </a:r>
            <a:r>
              <a:rPr dirty="0" sz="3700" spc="204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3700" spc="-10">
                <a:solidFill>
                  <a:srgbClr val="F2F2F2"/>
                </a:solidFill>
                <a:latin typeface="Arial MT"/>
                <a:cs typeface="Arial MT"/>
              </a:rPr>
              <a:t>Language</a:t>
            </a:r>
            <a:endParaRPr sz="3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4050" spc="60">
                <a:solidFill>
                  <a:srgbClr val="F2F2F2"/>
                </a:solidFill>
                <a:latin typeface="Calibri"/>
                <a:cs typeface="Calibri"/>
              </a:rPr>
              <a:t>Project</a:t>
            </a:r>
            <a:r>
              <a:rPr dirty="0" sz="4050" spc="135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dirty="0" sz="4050" spc="90">
                <a:solidFill>
                  <a:srgbClr val="F2F2F2"/>
                </a:solidFill>
                <a:latin typeface="Calibri"/>
                <a:cs typeface="Calibri"/>
              </a:rPr>
              <a:t>Presentation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12828917" y="8796338"/>
            <a:ext cx="969644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return</a:t>
            </a:r>
            <a:r>
              <a:rPr dirty="0" sz="180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14">
                <a:solidFill>
                  <a:srgbClr val="FFFFFF"/>
                </a:solidFill>
                <a:latin typeface="Arial MT"/>
                <a:cs typeface="Arial MT"/>
              </a:rPr>
              <a:t>O;)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482583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9104376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97774" y="8417306"/>
            <a:ext cx="5662295" cy="1172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4079"/>
              </a:lnSpc>
            </a:pPr>
            <a:r>
              <a:rPr dirty="0" sz="420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42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dirty="0" sz="4200" spc="4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200" spc="-1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4200">
              <a:latin typeface="Calibri"/>
              <a:cs typeface="Calibri"/>
            </a:endParaRPr>
          </a:p>
          <a:p>
            <a:pPr algn="ctr" marR="1905">
              <a:lnSpc>
                <a:spcPts val="4850"/>
              </a:lnSpc>
            </a:pPr>
            <a:r>
              <a:rPr dirty="0" sz="4050" spc="60">
                <a:solidFill>
                  <a:srgbClr val="F2F2F2"/>
                </a:solidFill>
                <a:latin typeface="Calibri"/>
                <a:cs typeface="Calibri"/>
              </a:rPr>
              <a:t>Project</a:t>
            </a:r>
            <a:r>
              <a:rPr dirty="0" sz="4050" spc="16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dirty="0" sz="4050" spc="90">
                <a:solidFill>
                  <a:srgbClr val="F2F2F2"/>
                </a:solidFill>
                <a:latin typeface="Calibri"/>
                <a:cs typeface="Calibri"/>
              </a:rPr>
              <a:t>Presentation</a:t>
            </a:r>
            <a:endParaRPr sz="4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" y="8592311"/>
            <a:ext cx="18279110" cy="460375"/>
          </a:xfrm>
          <a:custGeom>
            <a:avLst/>
            <a:gdLst/>
            <a:ahLst/>
            <a:cxnLst/>
            <a:rect l="l" t="t" r="r" b="b"/>
            <a:pathLst>
              <a:path w="18279110" h="460375">
                <a:moveTo>
                  <a:pt x="18278856" y="460248"/>
                </a:moveTo>
                <a:lnTo>
                  <a:pt x="0" y="46024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" y="9214104"/>
            <a:ext cx="18279110" cy="454659"/>
          </a:xfrm>
          <a:custGeom>
            <a:avLst/>
            <a:gdLst/>
            <a:ahLst/>
            <a:cxnLst/>
            <a:rect l="l" t="t" r="r" b="b"/>
            <a:pathLst>
              <a:path w="18279110" h="454659">
                <a:moveTo>
                  <a:pt x="18278856" y="454152"/>
                </a:moveTo>
                <a:lnTo>
                  <a:pt x="0" y="454152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54152"/>
                </a:lnTo>
                <a:close/>
              </a:path>
            </a:pathLst>
          </a:custGeom>
          <a:solidFill>
            <a:srgbClr val="001D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09382" y="8527033"/>
            <a:ext cx="5665470" cy="1172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4079"/>
              </a:lnSpc>
            </a:pPr>
            <a:r>
              <a:rPr dirty="0" sz="420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42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20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dirty="0" sz="4200" spc="4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200" spc="-1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4200">
              <a:latin typeface="Calibri"/>
              <a:cs typeface="Calibri"/>
            </a:endParaRPr>
          </a:p>
          <a:p>
            <a:pPr algn="ctr" marR="1905">
              <a:lnSpc>
                <a:spcPts val="4850"/>
              </a:lnSpc>
            </a:pPr>
            <a:r>
              <a:rPr dirty="0" sz="4050" spc="60">
                <a:solidFill>
                  <a:srgbClr val="F2F2F2"/>
                </a:solidFill>
                <a:latin typeface="Calibri"/>
                <a:cs typeface="Calibri"/>
              </a:rPr>
              <a:t>Project</a:t>
            </a:r>
            <a:r>
              <a:rPr dirty="0" sz="4050" spc="135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dirty="0" sz="4050" spc="90">
                <a:solidFill>
                  <a:srgbClr val="F2F2F2"/>
                </a:solidFill>
                <a:latin typeface="Calibri"/>
                <a:cs typeface="Calibri"/>
              </a:rPr>
              <a:t>Presentation</a:t>
            </a:r>
            <a:endParaRPr sz="4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Dhanya Sree</dc:creator>
  <cp:keywords>DAG4BAUAM4w,BAG4BPwWfYg,0</cp:keywords>
  <dc:title>Project Presentation</dc:title>
  <dcterms:created xsi:type="dcterms:W3CDTF">2026-03-16T05:58:01Z</dcterms:created>
  <dcterms:modified xsi:type="dcterms:W3CDTF">2026-03-16T05:58:01Z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Creator">
    <vt:lpwstr>Canva</vt:lpwstr>
  </property>
  <property fmtid="{D5CDD505-2E9C-101B-9397-08002B2CF9AE}" pid="4" name="Producer">
    <vt:lpwstr>Canva</vt:lpwstr>
  </property>
  <property fmtid="{D5CDD505-2E9C-101B-9397-08002B2CF9AE}" pid="5" name="LastSaved">
    <vt:filetime>2025-11-07T00:00:00Z</vt:filetime>
  </property>
</Properties>
</file>